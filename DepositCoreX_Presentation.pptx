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00584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201168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301752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402336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00584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201168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301752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402336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00584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201168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301752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402336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100584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201168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301752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402336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00584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01168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01752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402336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100584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201168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301752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402336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100584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201168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301752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402336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100584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201168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301752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0" y="402336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41080" y="100584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41080" y="201168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41080" y="301752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41080" y="4023360"/>
            <a:ext cx="36576" cy="36576"/>
          </a:xfrm>
          <a:prstGeom prst="ellipse">
            <a:avLst/>
          </a:prstGeom>
          <a:solidFill>
            <a:srgbClr val="C8A86E">
              <a:alpha val="2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C8A86E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DepositCoreX</a:t>
            </a:r>
            <a:endParaRPr lang="en-US" sz="5200" dirty="0"/>
          </a:p>
        </p:txBody>
      </p:sp>
      <p:sp>
        <p:nvSpPr>
          <p:cNvPr id="41" name="Text 39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C8A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Platform</a:t>
            </a:r>
            <a:endParaRPr lang="en-US" sz="3600" dirty="0"/>
          </a:p>
        </p:txBody>
      </p:sp>
      <p:sp>
        <p:nvSpPr>
          <p:cNvPr id="42" name="Shape 40"/>
          <p:cNvSpPr/>
          <p:nvPr/>
        </p:nvSpPr>
        <p:spPr>
          <a:xfrm>
            <a:off x="457200" y="2788920"/>
            <a:ext cx="5029200" cy="0"/>
          </a:xfrm>
          <a:prstGeom prst="line">
            <a:avLst/>
          </a:prstGeom>
          <a:noFill/>
          <a:ln w="19050">
            <a:solidFill>
              <a:srgbClr val="C8A8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2926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Microservices Banking Solution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3520440"/>
            <a:ext cx="15087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520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21408" y="3520440"/>
            <a:ext cx="15087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21408" y="3520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85616" y="3520440"/>
            <a:ext cx="15087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85616" y="3520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49824" y="3520440"/>
            <a:ext cx="15087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9824" y="3520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14032" y="3520440"/>
            <a:ext cx="15087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14032" y="3520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Version 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DepositCoreX?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core banking system designed for scalability and security. Built on microservices architecture with 10 independent backend services and a React 18 frontend.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E"/>
                </a:solidFill>
              </a:rPr>
              <a:t>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651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deployable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081528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E"/>
                </a:solidFill>
              </a:rPr>
              <a:t>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081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3101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 Customer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E"/>
                </a:solidFill>
              </a:rPr>
              <a:t>∞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739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968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architecture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20624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50876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 (CASA, FD, RD)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Processing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Deposit &amp; Interest Calculation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KYC &amp; Onboarding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(Peacock AI)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&amp; Alerts System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Statements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960120"/>
            <a:ext cx="274320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C8A8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960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Frontend  :5173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0" cy="365760"/>
          </a:xfrm>
          <a:prstGeom prst="line">
            <a:avLst/>
          </a:prstGeom>
          <a:noFill/>
          <a:ln w="25400">
            <a:solidFill>
              <a:srgbClr val="C8A8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18288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86E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011680"/>
            <a:ext cx="32918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8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2011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E"/>
                </a:solidFill>
              </a:rPr>
              <a:t>API Gateway  :9090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606040"/>
            <a:ext cx="0" cy="320040"/>
          </a:xfrm>
          <a:prstGeom prst="line">
            <a:avLst/>
          </a:prstGeom>
          <a:noFill/>
          <a:ln w="25400">
            <a:solidFill>
              <a:srgbClr val="C8A8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28346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86E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3017520"/>
            <a:ext cx="2743200" cy="594360"/>
          </a:xfrm>
          <a:prstGeom prst="rect">
            <a:avLst/>
          </a:prstGeom>
          <a:solidFill>
            <a:srgbClr val="6C3483"/>
          </a:solidFill>
          <a:ln w="12700">
            <a:solidFill>
              <a:srgbClr val="C8A8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3017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Eureka Registry  :8761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" y="3611880"/>
            <a:ext cx="0" cy="274320"/>
          </a:xfrm>
          <a:prstGeom prst="line">
            <a:avLst/>
          </a:prstGeom>
          <a:noFill/>
          <a:ln w="12700">
            <a:solidFill>
              <a:srgbClr val="C8A8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3913632"/>
            <a:ext cx="1042416" cy="502920"/>
          </a:xfrm>
          <a:prstGeom prst="rect">
            <a:avLst/>
          </a:prstGeom>
          <a:solidFill>
            <a:srgbClr val="0D1F40"/>
          </a:solidFill>
          <a:ln w="12700">
            <a:solidFill>
              <a:srgbClr val="C8A86E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3913632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6E"/>
                </a:solidFill>
              </a:rPr>
              <a:t>:9001 Auth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92224" y="3611880"/>
            <a:ext cx="0" cy="274320"/>
          </a:xfrm>
          <a:prstGeom prst="line">
            <a:avLst/>
          </a:prstGeom>
          <a:noFill/>
          <a:ln w="12700">
            <a:solidFill>
              <a:srgbClr val="C8A8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71016" y="3913632"/>
            <a:ext cx="1042416" cy="502920"/>
          </a:xfrm>
          <a:prstGeom prst="rect">
            <a:avLst/>
          </a:prstGeom>
          <a:solidFill>
            <a:srgbClr val="0D1F40"/>
          </a:solidFill>
          <a:ln w="12700">
            <a:solidFill>
              <a:srgbClr val="C8A86E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71016" y="3913632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6E"/>
                </a:solidFill>
              </a:rPr>
              <a:t>:9002 Onboard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80360" y="3611880"/>
            <a:ext cx="0" cy="274320"/>
          </a:xfrm>
          <a:prstGeom prst="line">
            <a:avLst/>
          </a:prstGeom>
          <a:noFill/>
          <a:ln w="12700">
            <a:solidFill>
              <a:srgbClr val="C8A8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9152" y="3913632"/>
            <a:ext cx="1042416" cy="502920"/>
          </a:xfrm>
          <a:prstGeom prst="rect">
            <a:avLst/>
          </a:prstGeom>
          <a:solidFill>
            <a:srgbClr val="0D1F40"/>
          </a:solidFill>
          <a:ln w="12700">
            <a:solidFill>
              <a:srgbClr val="C8A86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3913632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6E"/>
                </a:solidFill>
              </a:rPr>
              <a:t>:9003 Account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68496" y="3611880"/>
            <a:ext cx="0" cy="274320"/>
          </a:xfrm>
          <a:prstGeom prst="line">
            <a:avLst/>
          </a:prstGeom>
          <a:noFill/>
          <a:ln w="12700">
            <a:solidFill>
              <a:srgbClr val="C8A8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7288" y="3913632"/>
            <a:ext cx="1042416" cy="502920"/>
          </a:xfrm>
          <a:prstGeom prst="rect">
            <a:avLst/>
          </a:prstGeom>
          <a:solidFill>
            <a:srgbClr val="0D1F40"/>
          </a:solidFill>
          <a:ln w="12700">
            <a:solidFill>
              <a:srgbClr val="C8A86E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3913632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6E"/>
                </a:solidFill>
              </a:rPr>
              <a:t>:9004 Product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56632" y="3611880"/>
            <a:ext cx="0" cy="274320"/>
          </a:xfrm>
          <a:prstGeom prst="line">
            <a:avLst/>
          </a:prstGeom>
          <a:noFill/>
          <a:ln w="12700">
            <a:solidFill>
              <a:srgbClr val="C8A8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35424" y="3913632"/>
            <a:ext cx="1042416" cy="502920"/>
          </a:xfrm>
          <a:prstGeom prst="rect">
            <a:avLst/>
          </a:prstGeom>
          <a:solidFill>
            <a:srgbClr val="0D1F40"/>
          </a:solidFill>
          <a:ln w="12700">
            <a:solidFill>
              <a:srgbClr val="C8A86E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5424" y="3913632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6E"/>
                </a:solidFill>
              </a:rPr>
              <a:t>:9005 Txn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44768" y="3611880"/>
            <a:ext cx="0" cy="274320"/>
          </a:xfrm>
          <a:prstGeom prst="line">
            <a:avLst/>
          </a:prstGeom>
          <a:noFill/>
          <a:ln w="12700">
            <a:solidFill>
              <a:srgbClr val="C8A8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23560" y="3913632"/>
            <a:ext cx="1042416" cy="502920"/>
          </a:xfrm>
          <a:prstGeom prst="rect">
            <a:avLst/>
          </a:prstGeom>
          <a:solidFill>
            <a:srgbClr val="0D1F40"/>
          </a:solidFill>
          <a:ln w="12700">
            <a:solidFill>
              <a:srgbClr val="C8A86E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3913632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6E"/>
                </a:solidFill>
              </a:rPr>
              <a:t>:9006 Interest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32904" y="3611880"/>
            <a:ext cx="0" cy="274320"/>
          </a:xfrm>
          <a:prstGeom prst="line">
            <a:avLst/>
          </a:prstGeom>
          <a:noFill/>
          <a:ln w="12700">
            <a:solidFill>
              <a:srgbClr val="C8A8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11696" y="3913632"/>
            <a:ext cx="1042416" cy="502920"/>
          </a:xfrm>
          <a:prstGeom prst="rect">
            <a:avLst/>
          </a:prstGeom>
          <a:solidFill>
            <a:srgbClr val="0D1F40"/>
          </a:solidFill>
          <a:ln w="12700">
            <a:solidFill>
              <a:srgbClr val="C8A86E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3913632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6E"/>
                </a:solidFill>
              </a:rPr>
              <a:t>:9007 Reports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321040" y="3611880"/>
            <a:ext cx="0" cy="274320"/>
          </a:xfrm>
          <a:prstGeom prst="line">
            <a:avLst/>
          </a:prstGeom>
          <a:noFill/>
          <a:ln w="12700">
            <a:solidFill>
              <a:srgbClr val="C8A8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99832" y="3913632"/>
            <a:ext cx="1042416" cy="502920"/>
          </a:xfrm>
          <a:prstGeom prst="rect">
            <a:avLst/>
          </a:prstGeom>
          <a:solidFill>
            <a:srgbClr val="0D1F40"/>
          </a:solidFill>
          <a:ln w="12700">
            <a:solidFill>
              <a:srgbClr val="C8A86E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9832" y="3913632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86E"/>
                </a:solidFill>
              </a:rPr>
              <a:t>:9008 Notify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37160" y="1188720"/>
            <a:ext cx="2194560" cy="365760"/>
          </a:xfrm>
          <a:prstGeom prst="rect">
            <a:avLst/>
          </a:prstGeom>
          <a:solidFill>
            <a:srgbClr val="0D1F40"/>
          </a:solidFill>
          <a:ln w="12700">
            <a:solidFill>
              <a:srgbClr val="C8A86E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JWT — Stateless Auth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12280" y="1188720"/>
            <a:ext cx="2194560" cy="365760"/>
          </a:xfrm>
          <a:prstGeom prst="rect">
            <a:avLst/>
          </a:prstGeom>
          <a:solidFill>
            <a:srgbClr val="0D1F40"/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MySQL per service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80467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" y="10515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(LTS)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" y="13624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— virtual threads, pattern matching, modern syntax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80467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11" name="Text 9"/>
          <p:cNvSpPr/>
          <p:nvPr/>
        </p:nvSpPr>
        <p:spPr>
          <a:xfrm>
            <a:off x="4855464" y="10515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55464" y="13624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framework — auto-config, embedded Tomcat, production-ready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3794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37944"/>
            <a:ext cx="54864" cy="80467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" y="1929384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routing, load balancing, global CORS, lb:// URIs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83794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837944"/>
            <a:ext cx="54864" cy="80467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19" name="Text 17"/>
          <p:cNvSpPr/>
          <p:nvPr/>
        </p:nvSpPr>
        <p:spPr>
          <a:xfrm>
            <a:off x="4855464" y="1929384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Service Registry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55464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— all services self-register, health monitoring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157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715768"/>
            <a:ext cx="54864" cy="80467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" y="280720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" y="31181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 chain, @PreAuthorize, BCrypt, STATELESS session policy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7157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715768"/>
            <a:ext cx="54864" cy="80467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27" name="Text 25"/>
          <p:cNvSpPr/>
          <p:nvPr/>
        </p:nvSpPr>
        <p:spPr>
          <a:xfrm>
            <a:off x="4855464" y="280720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5464" y="31181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— @Entity, @Repository, auto schema migration (ddl-auto: update)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5935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593592"/>
            <a:ext cx="54864" cy="80467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" y="368503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" y="3995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lifecycle — mvn spring-boot:run, dependency management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5935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593592"/>
            <a:ext cx="54864" cy="80467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5" name="Text 33"/>
          <p:cNvSpPr/>
          <p:nvPr/>
        </p:nvSpPr>
        <p:spPr>
          <a:xfrm>
            <a:off x="4855464" y="368503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55464" y="3995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@Data, @Builder, @RequiredArgsConstructor — zero boilerplate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8046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" y="10515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" y="13624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UI, hooks (useState, useEffect, useRef, useContext), Context API for auth state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8046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855464" y="10515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55464" y="13624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HMR, ES module-first, dev proxy to API Gateway :9090, optimized production build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3794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37944"/>
            <a:ext cx="54864" cy="8046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" y="1929384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CSS, responsive grid, White Peacock custom design system (gold + navy + white)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83794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837944"/>
            <a:ext cx="54864" cy="80467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9" name="Text 17"/>
          <p:cNvSpPr/>
          <p:nvPr/>
        </p:nvSpPr>
        <p:spPr>
          <a:xfrm>
            <a:off x="4855464" y="1929384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55464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routing — useNavigate, useParams, protected routes with role-based access guards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157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715768"/>
            <a:ext cx="54864" cy="804672"/>
          </a:xfrm>
          <a:prstGeom prst="rect">
            <a:avLst/>
          </a:prstGeom>
          <a:solidFill>
            <a:srgbClr val="A07840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" y="280720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" y="31181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with request interceptors injecting JWT Bearer token, 401 → auto-redirect to login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7157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715768"/>
            <a:ext cx="54864" cy="8046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4855464" y="280720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Icons (MD)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5464" y="31181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icon library — 400+ icons used across dashboard, sidebar, forms, and cards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5935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593592"/>
            <a:ext cx="54864" cy="8046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" y="368503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Hot Toast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" y="3995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 for success/error feedback on all API operations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5935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593592"/>
            <a:ext cx="54864" cy="8046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4855464" y="368503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API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55464" y="3995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React Context — stores user session, updateProfile(), JWT token, role-based hasRole()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&amp;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— one database per microservice (database-per-service pattern)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ddl-auto: update — auto schema creation and migration on startup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798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@Enumerated(STRING)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26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enum values as readable strings (ACTIVE, INACTIVE, VERIFIED)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198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LONGTEXT Column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48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images stored as Base64 encoded strings in MySQL LONGTEXT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041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Databases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70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onboarding · accounts · products · transactions · interest · reporting · notifications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60120"/>
            <a:ext cx="4114800" cy="4572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960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HS512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— signed with HS512, stateless, 24-hour expiry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176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with strength 10 — never stored in plain text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798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026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OncePerRequestFilter — validates Bearer token on every request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4198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5 Roles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648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CORE_ADMIN · BRANCH_OFFICER · OPERATIONS · FINANCE · CUSTOMER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041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270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CorsConfigurationSource + Gateway global CORS for preflight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Microservices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C8A86E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97764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5577840"/>
              </a:tblGrid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Eureka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:8761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Registry — all services register 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:9090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&amp; Load Balancing — single entry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:9001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Register, JWT issuance, Audit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:9002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KYC, CIF creation, profile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:9003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CASA, Fixed Deposits, Recurring Deposits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:9004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catalog, interest rate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:9005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Debit, Credit, GL postings, 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:9006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Accrual calculation, interest posting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:9007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statements, regulatory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:9008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Alerts, notifications, unread 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5" name="Shape 3"/>
          <p:cNvSpPr/>
          <p:nvPr/>
        </p:nvSpPr>
        <p:spPr>
          <a:xfrm>
            <a:off x="237744" y="9144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1005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3898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Branch, Operations, Finance &amp; Customer views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72384" y="9144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21024" y="1005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Card Carousel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82112" y="13898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with animated account card 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07024" y="9144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5664" y="1005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Balance Lookup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16752" y="13898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account balance fetch via 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7744" y="18288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6384" y="1920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Peacock AI Chatbot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23042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for 12+ banking queries + customer care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72384" y="18288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🏛️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21024" y="1920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Deposit Management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82112" y="23042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FD/RD with maturity tracking and interest rates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07024" y="18288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55664" y="1920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 Upload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16752" y="23042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image stored in MySQL LONGTEXT via 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7744" y="27432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6384" y="2834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" y="32186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actions logged with timestamps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72384" y="27432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2112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21024" y="2834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82112" y="32186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for transactions and KYC events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07024" y="27432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16752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5664" y="2834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&amp; Reports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16752" y="32186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account statements and regulatory reports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37744" y="36576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6384" y="37490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&amp; Liens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7472" y="41330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Account-level holds for cheques and legal orders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072384" y="36576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82112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621024" y="37490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Instructions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182112" y="41330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payment automation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07024" y="3657600"/>
            <a:ext cx="2697480" cy="859536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55664" y="37490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16752" y="41330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dashboard shows all service UP/DOWN status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Cloud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6E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960120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960120"/>
            <a:ext cx="54864" cy="73152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101498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 (Eureka)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127101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@EnableEurekaServer on the registry. Every microservice annotated with @EnableEurekaClient auto-registers its host:port on startup. The dashboard at :8761 shows live UP/DOWN status.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92808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6E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1755648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1755648"/>
            <a:ext cx="54864" cy="73152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704" y="181051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Load-Balanced Routing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0704" y="20665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routes use lb://service-name URIs. Spring Cloud LoadBalancer resolves these to live instances discovered from Eureka — no hardcoded IP addresses.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88336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6E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2551176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2551176"/>
            <a:ext cx="54864" cy="73152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704" y="260604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Propagation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28620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forwards the Authorization: Bearer header to all downstream services. Each service's JwtAuthFilter validates the token locally without calling back to Auth Service.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83864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83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6E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3346704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3346704"/>
            <a:ext cx="54864" cy="73152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27" name="Text 25"/>
          <p:cNvSpPr/>
          <p:nvPr/>
        </p:nvSpPr>
        <p:spPr>
          <a:xfrm>
            <a:off x="1060704" y="340156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0704" y="36576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Gateway's globalcors config handles browser preflight OPTIONS requests. Per-service CorsConfigurationSource handles direct service calls during development.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279392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C8A8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79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6E"/>
                </a:solidFill>
              </a:rPr>
              <a:t>05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4142232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4142232"/>
            <a:ext cx="54864" cy="73152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3" name="Text 31"/>
          <p:cNvSpPr/>
          <p:nvPr/>
        </p:nvSpPr>
        <p:spPr>
          <a:xfrm>
            <a:off x="1060704" y="419709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Ready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60704" y="44531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Resilience4j-compatible. Each route can be enhanced with @CircuitBreaker for fault tolerance and fallback responses.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UI/UX — White Peacock Design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298448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8132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#0a1628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19072" y="960120"/>
            <a:ext cx="129844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19072" y="148132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#1e3a5f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63824" y="960120"/>
            <a:ext cx="1298448" cy="502920"/>
          </a:xfrm>
          <a:prstGeom prst="rect">
            <a:avLst/>
          </a:prstGeom>
          <a:solidFill>
            <a:srgbClr val="C8A8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3824" y="148132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#c8a86e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08576" y="960120"/>
            <a:ext cx="1298448" cy="502920"/>
          </a:xfrm>
          <a:prstGeom prst="rect">
            <a:avLst/>
          </a:prstGeom>
          <a:solidFill>
            <a:srgbClr val="A07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48132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#a07840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53328" y="960120"/>
            <a:ext cx="1298448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48132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#059669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98080" y="960120"/>
            <a:ext cx="12984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48132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#FFFFFF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4160520" cy="868680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874520"/>
            <a:ext cx="54864" cy="86868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1947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Island Navbar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pill-shaped navbar — shows current page, glow animation, notification bell, click-to-upload avatar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874520"/>
            <a:ext cx="4160520" cy="868680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874520"/>
            <a:ext cx="54864" cy="86868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1947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Card Carousel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5464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gradient bank card UI for customer accounts — similar to Apple Wallet, shows balance and account details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4160520" cy="868680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880360"/>
            <a:ext cx="54864" cy="86868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" y="2953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" y="3246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cards with color-coded borders, hover elevation effects, and live counts from API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880360"/>
            <a:ext cx="4160520" cy="868680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880360"/>
            <a:ext cx="54864" cy="86868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2953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Dashboards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55464" y="3246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sees KPIs + microservice grid; Customers see personal accounts, net worth, and transactions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886200"/>
            <a:ext cx="4160520" cy="868680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886200"/>
            <a:ext cx="54864" cy="86868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" y="3959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Panel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chat window with typing indicators, quick-reply chips, rich HTML responses, and customer care contacts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886200"/>
            <a:ext cx="4160520" cy="868680"/>
          </a:xfrm>
          <a:prstGeom prst="rect">
            <a:avLst/>
          </a:prstGeom>
          <a:solidFill>
            <a:srgbClr val="0D1F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886200"/>
            <a:ext cx="54864" cy="86868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8" name="Text 36"/>
          <p:cNvSpPr/>
          <p:nvPr/>
        </p:nvSpPr>
        <p:spPr>
          <a:xfrm>
            <a:off x="4855464" y="3959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Design System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55464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focus rings, navy gradients, emerald/red status badges, White Peacock btn-peacock style buttons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Tools &amp;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0" y="1051560"/>
            <a:ext cx="530352" cy="23774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0515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344" y="1051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" y="134416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 for Java backend — Spring Boot run configs, debugger, database tools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0" y="1051560"/>
            <a:ext cx="53035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0515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55464" y="1051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5464" y="134416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— environment variables, Bearer token auth, collection of all endpoints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8013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892808"/>
            <a:ext cx="530352" cy="237744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89280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" y="18928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" y="218541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inspection, query execution, ER diagrams for all 8 databases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8013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892808"/>
            <a:ext cx="530352" cy="237744"/>
          </a:xfrm>
          <a:prstGeom prst="rect">
            <a:avLst/>
          </a:prstGeom>
          <a:solidFill>
            <a:srgbClr val="A0784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89280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VCS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55464" y="18928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5464" y="218541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— branching, commit history, code collaboration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64261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0" y="2734056"/>
            <a:ext cx="530352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73405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Build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344" y="27340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" y="302666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spring-boot:run, mvn clean install -DskipTests for quick builds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64261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2734056"/>
            <a:ext cx="530352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273405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Build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55464" y="27340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/ Node.js 18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55464" y="302666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(Vite HMR), npm run build (production bundle)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48386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40480" y="3575304"/>
            <a:ext cx="530352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0" y="35753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Script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6344" y="3575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start-backend.bat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6344" y="386791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launcher — starts 10 backend services in color-coded terminal windows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48386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29600" y="3575304"/>
            <a:ext cx="530352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35753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Script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55464" y="3575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start-all.bat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55464" y="386791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launcher — opens all 11 processes + auto-opens browser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Folder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241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C:\bank\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2481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backend\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4721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eureka-server\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6962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api-gateway\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auth-service\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442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onboarding-service\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3682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account-service\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5923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product-service\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816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transaction-service\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0403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interest-service\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264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reporting-service\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4884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notification-service\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7124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frontend\  (React+Vite)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9364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docs\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1605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7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start-all.bat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3845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7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start-backend.bat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96012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Contains: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463040"/>
            <a:ext cx="54864" cy="25603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4630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Application.java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3796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class with @SpringBootApplication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837944"/>
            <a:ext cx="54864" cy="25603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8379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config/SecurityConfig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37960" y="1837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 chain, CORS configuration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212848"/>
            <a:ext cx="54864" cy="25603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212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config/JwtAuthFilter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37960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validation on each request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587752"/>
            <a:ext cx="54864" cy="25603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587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controller/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37960" y="2587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with @RequestMapping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962656"/>
            <a:ext cx="54864" cy="25603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962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37960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@Service — business logic layer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337560"/>
            <a:ext cx="54864" cy="25603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repository/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37960" y="3337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@Repository — JPA interfaces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712464"/>
            <a:ext cx="54864" cy="25603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3712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37960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 classes with JPA annotations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4087368"/>
            <a:ext cx="54864" cy="25603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37960" y="4087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DTOs with Lombok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4462272"/>
            <a:ext cx="54864" cy="256032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4462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application.yml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37960" y="4462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Port, DB, Eureka, JWT config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4864" cy="4572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00584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JWT validation without shared auth server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307592"/>
            <a:ext cx="8366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07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3807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JWT secret in each service's application.yml. Each service runs JwtAuthFilter locally — no network call to Auth Service needed.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7393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73936"/>
            <a:ext cx="54864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8196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181965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Customer–Account data linking across independent services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121408"/>
            <a:ext cx="8366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945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21945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/customers/by-email endpoint bridges Auth userId → Customer profile → linked Accounts, enabling the customer dashboard to load all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8775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587752"/>
            <a:ext cx="54864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6334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26334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at microservices scale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935224"/>
            <a:ext cx="8366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0083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30083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CorsConfigurationSource beans handle direct dev calls; Gateway globalcors handles all browser preflight OPTIONS requests.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0156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401568"/>
            <a:ext cx="54864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447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00200" y="344728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image storage without object storage (S3 etc.)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749040"/>
            <a:ext cx="8366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221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00200" y="38221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encoded image stored in MySQL LONGTEXT column. Returned in API responses and cached in localStorage — no file server needed.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1538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215384"/>
            <a:ext cx="54864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2611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00200" y="426110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startup ordering and dependency management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4562856"/>
            <a:ext cx="8366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6360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00200" y="46360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start-backend.bat launches Eureka first (28s wait), then services sequentially with timed gaps to allow Eureka registration before gateway starts.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C8A8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C8A86E">
              <a:alpha val="15000"/>
            </a:srgbClr>
          </a:solidFill>
          <a:ln w="12700">
            <a:solidFill>
              <a:srgbClr val="C8A86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8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8A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DepositCoreX Banking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5029200" cy="0"/>
          </a:xfrm>
          <a:prstGeom prst="line">
            <a:avLst/>
          </a:prstGeom>
          <a:noFill/>
          <a:ln w="19050">
            <a:solidFill>
              <a:srgbClr val="C8A8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 ·  Spring Boot 3  ·  Spring Cloud  ·  React 18  ·  Vite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363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·  JWT HS512  ·  Tailwind CSS  ·  Maven  ·  npm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Microservices  ·  5 Roles  ·  AI Chatbot  ·  Real-time Banking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IntelliJ IDEA  ·  Maven  ·  npm  ·  MySQL Workbench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DepositCoreX Banking Platform</dc:title>
  <dc:subject>PptxGenJS Presentation</dc:subject>
  <dc:creator>DepositCoreX Team</dc:creator>
  <cp:lastModifiedBy>DepositCoreX Team</cp:lastModifiedBy>
  <cp:revision>1</cp:revision>
  <dcterms:created xsi:type="dcterms:W3CDTF">2026-05-27T08:34:38Z</dcterms:created>
  <dcterms:modified xsi:type="dcterms:W3CDTF">2026-05-27T08:34:38Z</dcterms:modified>
</cp:coreProperties>
</file>